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76" r:id="rId3"/>
    <p:sldId id="257" r:id="rId4"/>
    <p:sldId id="259" r:id="rId5"/>
    <p:sldId id="260" r:id="rId6"/>
    <p:sldId id="261" r:id="rId7"/>
    <p:sldId id="268" r:id="rId8"/>
    <p:sldId id="262" r:id="rId9"/>
    <p:sldId id="263" r:id="rId10"/>
    <p:sldId id="272" r:id="rId11"/>
    <p:sldId id="265" r:id="rId12"/>
    <p:sldId id="267" r:id="rId13"/>
    <p:sldId id="274" r:id="rId14"/>
    <p:sldId id="275" r:id="rId15"/>
    <p:sldId id="269" r:id="rId16"/>
    <p:sldId id="27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28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95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539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18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03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059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76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08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2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715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0506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57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004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13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14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71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302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700" b="1"/>
            </a:pPr>
            <a:r>
              <a:rPr sz="4400"/>
              <a:t>Sales &amp; Revenue Performance Analysis</a:t>
            </a:r>
            <a:endParaRPr lang="en-US" sz="4400"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19692" y="3921596"/>
            <a:ext cx="10698480" cy="23339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400"/>
              </a:spcAft>
              <a:defRPr sz="1900" b="0"/>
            </a:pPr>
            <a:r>
              <a:rPr lang="en-US" sz="2000" dirty="0">
                <a:latin typeface="Rockwell"/>
                <a:ea typeface="Calibri"/>
                <a:cs typeface="Calibri"/>
              </a:rPr>
              <a:t>Presented by: Geetha &amp; Harshit Pandey</a:t>
            </a:r>
          </a:p>
          <a:p>
            <a:pPr>
              <a:spcAft>
                <a:spcPts val="1400"/>
              </a:spcAft>
              <a:defRPr sz="1900" b="0"/>
            </a:pPr>
            <a:r>
              <a:rPr lang="en-US" sz="2000" dirty="0">
                <a:latin typeface="Rockwell"/>
                <a:ea typeface="Calibri"/>
                <a:cs typeface="Calibri"/>
              </a:rPr>
              <a:t>Enrollment No:EN12027097079</a:t>
            </a:r>
          </a:p>
          <a:p>
            <a:pPr>
              <a:spcAft>
                <a:spcPts val="1400"/>
              </a:spcAft>
              <a:defRPr sz="1900" b="0"/>
            </a:pPr>
            <a:r>
              <a:rPr lang="en-US" sz="2000" dirty="0">
                <a:latin typeface="Rockwell"/>
                <a:ea typeface="Calibri"/>
                <a:cs typeface="Calibri"/>
              </a:rPr>
              <a:t>Enrollment No:EN12026096961</a:t>
            </a:r>
          </a:p>
          <a:p>
            <a:pPr>
              <a:spcAft>
                <a:spcPts val="1400"/>
              </a:spcAft>
              <a:defRPr sz="1900" b="0"/>
            </a:pPr>
            <a:r>
              <a:rPr lang="en-US" sz="2000" dirty="0">
                <a:latin typeface="Rockwell"/>
                <a:ea typeface="Calibri"/>
                <a:cs typeface="Calibri"/>
              </a:rPr>
              <a:t>Batch code:DA804S80</a:t>
            </a:r>
          </a:p>
          <a:p>
            <a:pPr algn="l">
              <a:defRPr sz="1900" b="0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/>
            </a:pPr>
            <a: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3955C1-74CA-B0D5-062D-E15B3F164E6E}"/>
              </a:ext>
            </a:extLst>
          </p:cNvPr>
          <p:cNvSpPr txBox="1"/>
          <p:nvPr/>
        </p:nvSpPr>
        <p:spPr>
          <a:xfrm>
            <a:off x="1101704" y="2751738"/>
            <a:ext cx="5672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Course</a:t>
            </a:r>
            <a:r>
              <a:rPr lang="en-US" dirty="0"/>
              <a:t> : Exploratory data analysis using Power BI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83D155-A3AE-110C-C53C-F07187EA67D3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200" b="1">
                <a:ea typeface="Calibri"/>
                <a:cs typeface="Calibri"/>
              </a:rPr>
              <a:t>Introduction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00D8AC-9346-32A1-C44B-A01DEDA919EC}"/>
              </a:ext>
            </a:extLst>
          </p:cNvPr>
          <p:cNvSpPr txBox="1"/>
          <p:nvPr/>
        </p:nvSpPr>
        <p:spPr>
          <a:xfrm>
            <a:off x="227540" y="1096657"/>
            <a:ext cx="1180714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An outline business records every order, payment, review, customer, seller and product in separate tables.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Reading them one by one hides the bigger picture.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This project connects all of them in one Power BI model and presents the story through interactive pages: revenue and growth, customers, products, and AI-powered insights.</a:t>
            </a:r>
          </a:p>
        </p:txBody>
      </p:sp>
    </p:spTree>
    <p:extLst>
      <p:ext uri="{BB962C8B-B14F-4D97-AF65-F5344CB8AC3E}">
        <p14:creationId xmlns:p14="http://schemas.microsoft.com/office/powerpoint/2010/main" val="369907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/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rPr dirty="0"/>
              <a:t>• </a:t>
            </a:r>
            <a:r>
              <a:rPr b="1" dirty="0"/>
              <a:t>Objective</a:t>
            </a:r>
            <a:r>
              <a:rPr b="1" dirty="0">
                <a:solidFill>
                  <a:schemeClr val="bg1"/>
                </a:solidFill>
              </a:rPr>
              <a:t>:</a:t>
            </a:r>
            <a:r>
              <a:rPr dirty="0"/>
              <a:t> analyze sales and revenue performance across products, regions, customers, and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Build an interactive Power BI dashboard to support data-driven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25496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Identify trends, high-performing segments, and areas requiring attention.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/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/>
            </a:pPr>
            <a:r>
              <a:t>Dataset &amp;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Imported sales transaction data into Power BI.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720655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Reviewed data types, missing values, duplicates, and inconsistent entries.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08244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Standardized dates, categories, and numeric fields.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75303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Created a clean analytical dataset for reporting.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/>
            </a:pPr>
            <a:r>
              <a:t>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05B318-4E3F-0A19-77A4-3D87D5264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474" y="1249466"/>
            <a:ext cx="3069209" cy="42826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/>
            </a:pPr>
            <a:r>
              <a:t>Power Query Transformations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Removed unnecessary rows and columns.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Changed data types and standardized field names.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25496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Handled blanks and inconsistent values.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75303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Split/merged columns where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25112"/>
            <a:ext cx="484681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rPr dirty="0"/>
              <a:t>• Prepared data for the model and downstream calculations.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/>
            </a:pPr>
            <a:r>
              <a:t>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F774C1-12A7-82C7-227E-D93F3EAB7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670" y="1454046"/>
            <a:ext cx="4454014" cy="43764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/>
            </a:pPr>
            <a: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3343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Designed a structured model using fact and dimension tables.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Connected sales transactions with Date, Product, Customer, and Geography dimensions.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25496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Used appropriate one-to-many relationships.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75303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A star-schema approach improves usability and report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/>
            </a:pPr>
            <a:r>
              <a:t>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11E1A5-BE2B-ED23-D33D-1BB9B7119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02" y="1873541"/>
            <a:ext cx="11826490" cy="49844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/>
            </a:pPr>
            <a:r>
              <a:t>Dashboard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Created an executive-friendly overview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Used KPI cards for key metrics and charts for trends.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25496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Added slicers for date, product, region, and customer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75303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Maintained consistent layout and avoided unnecessary visual clutter.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/>
            </a:pPr>
            <a:r>
              <a:t>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/>
            </a:pPr>
            <a:r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Total Sales /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Total Orders or Transactions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25496"/>
            <a:ext cx="106984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rPr dirty="0"/>
              <a:t>• </a:t>
            </a:r>
            <a:r>
              <a:rPr lang="en-US" dirty="0"/>
              <a:t>Items</a:t>
            </a:r>
            <a:r>
              <a:rPr dirty="0"/>
              <a:t> Sold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75303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Average Order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25112"/>
            <a:ext cx="106984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rPr dirty="0"/>
              <a:t>• </a:t>
            </a:r>
            <a:r>
              <a:rPr lang="en-US" dirty="0"/>
              <a:t>Repeat Customers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rPr dirty="0"/>
              <a:t>• Year-over-Year or period-over-period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/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/>
            </a:pPr>
            <a:r>
              <a:t>DAX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/>
            </a:pPr>
            <a:r>
              <a:t>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3F0D9F-CBA0-8230-05B8-2B086DB52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716" y="958645"/>
            <a:ext cx="8566567" cy="58993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6D52F1-5096-0A29-4FC0-10A9FF50D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406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700" b="1"/>
            </a:pPr>
            <a:r>
              <a:rPr lang="en-US"/>
              <a:t>Business Performance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/>
            </a:pPr>
            <a:r>
              <a:t>10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1CF61E-9D9E-33F2-1E32-10CABA92F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784" y="946219"/>
            <a:ext cx="9888432" cy="59117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/>
            </a:pPr>
            <a:r>
              <a:t>Customer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/>
            </a:pPr>
            <a:r>
              <a:t>12</a:t>
            </a:r>
          </a:p>
        </p:txBody>
      </p:sp>
      <p:pic>
        <p:nvPicPr>
          <p:cNvPr id="4" name="Picture 3" descr="A screenshot of a customer analysis&#10;&#10;AI-generated content may be incorrect.">
            <a:extLst>
              <a:ext uri="{FF2B5EF4-FFF2-40B4-BE49-F238E27FC236}">
                <a16:creationId xmlns:a16="http://schemas.microsoft.com/office/drawing/2014/main" id="{7FEF37F6-7B0E-387A-E318-5FD7D0A64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965269"/>
            <a:ext cx="11696700" cy="58820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92E320-7720-EDD0-2532-69DBD2AD2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28" y="633392"/>
            <a:ext cx="11792585" cy="622670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52911E-A1F3-D71D-36CF-668BB56FC2B0}"/>
              </a:ext>
            </a:extLst>
          </p:cNvPr>
          <p:cNvSpPr/>
          <p:nvPr/>
        </p:nvSpPr>
        <p:spPr>
          <a:xfrm>
            <a:off x="0" y="0"/>
            <a:ext cx="12191695" cy="63237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800">
                <a:ea typeface="Calibri"/>
                <a:cs typeface="Calibri"/>
              </a:rPr>
              <a:t>Product &amp; Sales Analysis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99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5E50A5-BAA2-2C4B-311B-71B11997A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10" y="793720"/>
            <a:ext cx="11857315" cy="599760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AC9A04-FBD2-B4AD-D959-982151C1F45F}"/>
              </a:ext>
            </a:extLst>
          </p:cNvPr>
          <p:cNvSpPr/>
          <p:nvPr/>
        </p:nvSpPr>
        <p:spPr>
          <a:xfrm>
            <a:off x="0" y="0"/>
            <a:ext cx="12191695" cy="792341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800" b="1">
                <a:ea typeface="Calibri"/>
                <a:cs typeface="Calibri"/>
              </a:rPr>
              <a:t>AI Insights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786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/>
            </a:pPr>
            <a: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Sales performance can be monitored from a single interactive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Trend and segment analysis makes changes easier to detect.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25496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Top products, customers, and regions can be prioritized.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75303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/>
            </a:pPr>
            <a:r>
              <a:t>• Interactive filters allow users to move from overall performance to detailed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/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28960" cy="27238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  <a:defRPr sz="1900" b="0"/>
            </a:pPr>
            <a:r>
              <a:rPr lang="en-US" b="1">
                <a:ea typeface="+mn-lt"/>
                <a:cs typeface="+mn-lt"/>
              </a:rPr>
              <a:t>Sales growth:</a:t>
            </a:r>
            <a:r>
              <a:rPr lang="en-US">
                <a:ea typeface="+mn-lt"/>
                <a:cs typeface="+mn-lt"/>
              </a:rPr>
              <a:t> Sales increased by approximately </a:t>
            </a:r>
            <a:r>
              <a:rPr lang="en-US" b="1">
                <a:ea typeface="+mn-lt"/>
                <a:cs typeface="+mn-lt"/>
              </a:rPr>
              <a:t>15%</a:t>
            </a:r>
            <a:r>
              <a:rPr lang="en-US">
                <a:ea typeface="+mn-lt"/>
                <a:cs typeface="+mn-lt"/>
              </a:rPr>
              <a:t>, indicating positive overall business performance. </a:t>
            </a:r>
            <a:endParaRPr lang="en-US"/>
          </a:p>
          <a:p>
            <a:pPr marL="285750" indent="-285750">
              <a:buFont typeface="Arial"/>
              <a:buChar char="•"/>
              <a:defRPr sz="1900" b="0"/>
            </a:pPr>
            <a:r>
              <a:rPr lang="en-US" b="1">
                <a:ea typeface="+mn-lt"/>
                <a:cs typeface="+mn-lt"/>
              </a:rPr>
              <a:t>Revenue contribution:</a:t>
            </a:r>
            <a:r>
              <a:rPr lang="en-US">
                <a:ea typeface="+mn-lt"/>
                <a:cs typeface="+mn-lt"/>
              </a:rPr>
              <a:t> The top-performing product category contributed around </a:t>
            </a:r>
            <a:r>
              <a:rPr lang="en-US" b="1">
                <a:ea typeface="+mn-lt"/>
                <a:cs typeface="+mn-lt"/>
              </a:rPr>
              <a:t>35% of total revenue</a:t>
            </a:r>
            <a:r>
              <a:rPr lang="en-US">
                <a:ea typeface="+mn-lt"/>
                <a:cs typeface="+mn-lt"/>
              </a:rPr>
              <a:t>. </a:t>
            </a:r>
            <a:endParaRPr lang="en-US"/>
          </a:p>
          <a:p>
            <a:pPr marL="285750" indent="-285750">
              <a:buFont typeface="Arial"/>
              <a:buChar char="•"/>
              <a:defRPr sz="1900" b="0"/>
            </a:pPr>
            <a:r>
              <a:rPr lang="en-US" b="1">
                <a:ea typeface="+mn-lt"/>
                <a:cs typeface="+mn-lt"/>
              </a:rPr>
              <a:t>Regional performance:</a:t>
            </a:r>
            <a:r>
              <a:rPr lang="en-US">
                <a:ea typeface="+mn-lt"/>
                <a:cs typeface="+mn-lt"/>
              </a:rPr>
              <a:t> The leading region generated approximately </a:t>
            </a:r>
            <a:r>
              <a:rPr lang="en-US" b="1">
                <a:ea typeface="+mn-lt"/>
                <a:cs typeface="+mn-lt"/>
              </a:rPr>
              <a:t>40% of total sales</a:t>
            </a:r>
            <a:r>
              <a:rPr lang="en-US">
                <a:ea typeface="+mn-lt"/>
                <a:cs typeface="+mn-lt"/>
              </a:rPr>
              <a:t>. </a:t>
            </a:r>
            <a:endParaRPr lang="en-US"/>
          </a:p>
          <a:p>
            <a:pPr marL="285750" indent="-285750">
              <a:buFont typeface="Arial"/>
              <a:buChar char="•"/>
              <a:defRPr sz="1900" b="0"/>
            </a:pPr>
            <a:r>
              <a:rPr lang="en-US" b="1">
                <a:ea typeface="+mn-lt"/>
                <a:cs typeface="+mn-lt"/>
              </a:rPr>
              <a:t>Customer contribution:</a:t>
            </a:r>
            <a:r>
              <a:rPr lang="en-US">
                <a:ea typeface="+mn-lt"/>
                <a:cs typeface="+mn-lt"/>
              </a:rPr>
              <a:t> High-value customers accounted for nearly </a:t>
            </a:r>
            <a:r>
              <a:rPr lang="en-US" b="1">
                <a:ea typeface="+mn-lt"/>
                <a:cs typeface="+mn-lt"/>
              </a:rPr>
              <a:t>30% of total revenue</a:t>
            </a:r>
            <a:r>
              <a:rPr lang="en-US">
                <a:ea typeface="+mn-lt"/>
                <a:cs typeface="+mn-lt"/>
              </a:rPr>
              <a:t>. </a:t>
            </a:r>
            <a:endParaRPr lang="en-US"/>
          </a:p>
          <a:p>
            <a:pPr marL="285750" indent="-285750">
              <a:buFont typeface="Arial"/>
              <a:buChar char="•"/>
              <a:defRPr sz="1900" b="0"/>
            </a:pPr>
            <a:r>
              <a:rPr lang="en-US" b="1">
                <a:ea typeface="+mn-lt"/>
                <a:cs typeface="+mn-lt"/>
              </a:rPr>
              <a:t>Profitability:</a:t>
            </a:r>
            <a:r>
              <a:rPr lang="en-US">
                <a:ea typeface="+mn-lt"/>
                <a:cs typeface="+mn-lt"/>
              </a:rPr>
              <a:t> The overall profit margin was approximately </a:t>
            </a:r>
            <a:r>
              <a:rPr lang="en-US" b="1">
                <a:ea typeface="+mn-lt"/>
                <a:cs typeface="+mn-lt"/>
              </a:rPr>
              <a:t>20%</a:t>
            </a:r>
            <a:r>
              <a:rPr lang="en-US">
                <a:ea typeface="+mn-lt"/>
                <a:cs typeface="+mn-lt"/>
              </a:rPr>
              <a:t>, showing a healthy contribution from sales. </a:t>
            </a:r>
            <a:endParaRPr lang="en-US"/>
          </a:p>
          <a:p>
            <a:pPr marL="285750" indent="-285750">
              <a:buFont typeface="Arial"/>
              <a:buChar char="•"/>
              <a:defRPr sz="1900" b="0"/>
            </a:pPr>
            <a:r>
              <a:rPr lang="en-US" b="1">
                <a:ea typeface="+mn-lt"/>
                <a:cs typeface="+mn-lt"/>
              </a:rPr>
              <a:t>Trend analysis:</a:t>
            </a:r>
            <a:r>
              <a:rPr lang="en-US">
                <a:ea typeface="+mn-lt"/>
                <a:cs typeface="+mn-lt"/>
              </a:rPr>
              <a:t> Monthly performance showed approximately </a:t>
            </a:r>
            <a:r>
              <a:rPr lang="en-US" b="1">
                <a:ea typeface="+mn-lt"/>
                <a:cs typeface="+mn-lt"/>
              </a:rPr>
              <a:t>10–15% variation</a:t>
            </a:r>
            <a:r>
              <a:rPr lang="en-US">
                <a:ea typeface="+mn-lt"/>
                <a:cs typeface="+mn-lt"/>
              </a:rPr>
              <a:t> across peak and low-performing periods.</a:t>
            </a:r>
            <a:endParaRPr lang="en-US"/>
          </a:p>
          <a:p>
            <a:pPr algn="l">
              <a:defRPr sz="1900" b="0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/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14047B7-15B3-EE4A-5730-37626DD1215E}"/>
              </a:ext>
            </a:extLst>
          </p:cNvPr>
          <p:cNvSpPr/>
          <p:nvPr/>
        </p:nvSpPr>
        <p:spPr>
          <a:xfrm>
            <a:off x="1904687" y="1372962"/>
            <a:ext cx="7395584" cy="40042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>
                <a:ea typeface="Calibri"/>
                <a:cs typeface="Calibr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8723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</TotalTime>
  <Words>514</Words>
  <Application>Microsoft Office PowerPoint</Application>
  <PresentationFormat>Widescreen</PresentationFormat>
  <Paragraphs>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Century Gothic</vt:lpstr>
      <vt:lpstr>Rockwell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Priya</dc:creator>
  <cp:keywords/>
  <dc:description>generated using python-pptx</dc:description>
  <cp:lastModifiedBy>Priya Pandey</cp:lastModifiedBy>
  <cp:revision>4</cp:revision>
  <dcterms:created xsi:type="dcterms:W3CDTF">2013-01-27T09:14:16Z</dcterms:created>
  <dcterms:modified xsi:type="dcterms:W3CDTF">2026-10-01T04:31:05Z</dcterms:modified>
  <cp:category/>
</cp:coreProperties>
</file>